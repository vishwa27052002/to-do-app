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A855F6"/>
          </a:solidFill>
          <a:ln/>
        </p:spPr>
      </p:sp>
      <p:sp>
        <p:nvSpPr>
          <p:cNvPr id="95" name="Shape 93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6" name="Text 94"/>
          <p:cNvSpPr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Tasks</a:t>
            </a:r>
            <a:endParaRPr lang="en-US" sz="5400" dirty="0"/>
          </a:p>
        </p:txBody>
      </p:sp>
      <p:sp>
        <p:nvSpPr>
          <p:cNvPr id="97" name="Text 95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855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Organized, Get Things Done.</a:t>
            </a:r>
            <a:endParaRPr lang="en-US" sz="2800" dirty="0"/>
          </a:p>
        </p:txBody>
      </p:sp>
      <p:sp>
        <p:nvSpPr>
          <p:cNvPr id="98" name="Text 96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Modern, Secure To-Do Application</a:t>
            </a:r>
            <a:endParaRPr lang="en-US" sz="1800" dirty="0"/>
          </a:p>
        </p:txBody>
      </p:sp>
      <p:sp>
        <p:nvSpPr>
          <p:cNvPr id="99" name="Text 97"/>
          <p:cNvSpPr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Presentation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95" name="Shape 93"/>
          <p:cNvSpPr/>
          <p:nvPr/>
        </p:nvSpPr>
        <p:spPr>
          <a:xfrm>
            <a:off x="731520" y="1051560"/>
            <a:ext cx="2286000" cy="54864"/>
          </a:xfrm>
          <a:prstGeom prst="rect">
            <a:avLst/>
          </a:prstGeom>
          <a:solidFill>
            <a:srgbClr val="A855F6"/>
          </a:solidFill>
          <a:ln/>
        </p:spPr>
      </p:sp>
      <p:sp>
        <p:nvSpPr>
          <p:cNvPr id="96" name="Shape 94"/>
          <p:cNvSpPr/>
          <p:nvPr/>
        </p:nvSpPr>
        <p:spPr>
          <a:xfrm>
            <a:off x="914400" y="1463040"/>
            <a:ext cx="10332720" cy="777240"/>
          </a:xfrm>
          <a:prstGeom prst="roundRect">
            <a:avLst>
              <a:gd name="adj" fmla="val 11765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188720" y="150876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 Tasks scattered across sticky notes, spreadsheets, and multiple apps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914400" y="2377440"/>
            <a:ext cx="10332720" cy="777240"/>
          </a:xfrm>
          <a:prstGeom prst="roundRect">
            <a:avLst>
              <a:gd name="adj" fmla="val 11765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188720" y="242316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   No reminders — deadlines are missed regularly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914400" y="3291840"/>
            <a:ext cx="10332720" cy="777240"/>
          </a:xfrm>
          <a:prstGeom prst="roundRect">
            <a:avLst>
              <a:gd name="adj" fmla="val 11765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188720" y="333756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🔓   No security — anyone with access can see your tasks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914400" y="4206240"/>
            <a:ext cx="10332720" cy="777240"/>
          </a:xfrm>
          <a:prstGeom prst="roundRect">
            <a:avLst>
              <a:gd name="adj" fmla="val 11765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188720" y="425196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 No cloud sync — data locked to a single device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914400" y="5120640"/>
            <a:ext cx="10332720" cy="777240"/>
          </a:xfrm>
          <a:prstGeom prst="roundRect">
            <a:avLst>
              <a:gd name="adj" fmla="val 11765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188720" y="5166360"/>
            <a:ext cx="9784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😩   Outdated, ugly interfaces that feel like a chore to use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Introducing  Tasks</a:t>
            </a:r>
            <a:endParaRPr lang="en-US" sz="3600" dirty="0"/>
          </a:p>
        </p:txBody>
      </p:sp>
      <p:sp>
        <p:nvSpPr>
          <p:cNvPr id="95" name="Shape 93"/>
          <p:cNvSpPr/>
          <p:nvPr/>
        </p:nvSpPr>
        <p:spPr>
          <a:xfrm>
            <a:off x="731520" y="1051560"/>
            <a:ext cx="3200400" cy="54864"/>
          </a:xfrm>
          <a:prstGeom prst="rect">
            <a:avLst/>
          </a:prstGeom>
          <a:solidFill>
            <a:srgbClr val="A855F6"/>
          </a:solidFill>
          <a:ln/>
        </p:spPr>
      </p:sp>
      <p:sp>
        <p:nvSpPr>
          <p:cNvPr id="96" name="Shape 94"/>
          <p:cNvSpPr/>
          <p:nvPr/>
        </p:nvSpPr>
        <p:spPr>
          <a:xfrm>
            <a:off x="731520" y="1463040"/>
            <a:ext cx="5029200" cy="1280160"/>
          </a:xfrm>
          <a:prstGeom prst="roundRect">
            <a:avLst>
              <a:gd name="adj" fmla="val 10714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058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98" name="Text 96"/>
          <p:cNvSpPr/>
          <p:nvPr/>
        </p:nvSpPr>
        <p:spPr>
          <a:xfrm>
            <a:off x="1645920" y="1508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Effortless Task Management</a:t>
            </a:r>
            <a:endParaRPr lang="en-US" sz="1800" dirty="0"/>
          </a:p>
        </p:txBody>
      </p:sp>
      <p:sp>
        <p:nvSpPr>
          <p:cNvPr id="99" name="Text 97"/>
          <p:cNvSpPr/>
          <p:nvPr/>
        </p:nvSpPr>
        <p:spPr>
          <a:xfrm>
            <a:off x="1645920" y="2011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Add, edit, complete, and delete tasks in seconds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731520" y="3017520"/>
            <a:ext cx="5029200" cy="1280160"/>
          </a:xfrm>
          <a:prstGeom prst="roundRect">
            <a:avLst>
              <a:gd name="adj" fmla="val 10714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058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02" name="Text 100"/>
          <p:cNvSpPr/>
          <p:nvPr/>
        </p:nvSpPr>
        <p:spPr>
          <a:xfrm>
            <a:off x="1645920" y="3063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Authentication</a:t>
            </a:r>
            <a:endParaRPr lang="en-US" sz="1800" dirty="0"/>
          </a:p>
        </p:txBody>
      </p:sp>
      <p:sp>
        <p:nvSpPr>
          <p:cNvPr id="103" name="Text 101"/>
          <p:cNvSpPr/>
          <p:nvPr/>
        </p:nvSpPr>
        <p:spPr>
          <a:xfrm>
            <a:off x="1645920" y="3566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data, your eyes only — enterprise-grade security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731520" y="4572000"/>
            <a:ext cx="5029200" cy="1280160"/>
          </a:xfrm>
          <a:prstGeom prst="roundRect">
            <a:avLst>
              <a:gd name="adj" fmla="val 10714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00584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06" name="Text 104"/>
          <p:cNvSpPr/>
          <p:nvPr/>
        </p:nvSpPr>
        <p:spPr>
          <a:xfrm>
            <a:off x="1645920" y="4617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Reminders</a:t>
            </a:r>
            <a:endParaRPr lang="en-US" sz="1800" dirty="0"/>
          </a:p>
        </p:txBody>
      </p:sp>
      <p:sp>
        <p:nvSpPr>
          <p:cNvPr id="107" name="Text 105"/>
          <p:cNvSpPr/>
          <p:nvPr/>
        </p:nvSpPr>
        <p:spPr>
          <a:xfrm>
            <a:off x="1645920" y="5120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notifications so no deadline ever slips again</a:t>
            </a:r>
            <a:endParaRPr lang="en-US" sz="1400" dirty="0"/>
          </a:p>
        </p:txBody>
      </p:sp>
      <p:sp>
        <p:nvSpPr>
          <p:cNvPr id="108" name="Shape 106"/>
          <p:cNvSpPr/>
          <p:nvPr/>
        </p:nvSpPr>
        <p:spPr>
          <a:xfrm>
            <a:off x="6217920" y="1463040"/>
            <a:ext cx="5029200" cy="1280160"/>
          </a:xfrm>
          <a:prstGeom prst="roundRect">
            <a:avLst>
              <a:gd name="adj" fmla="val 10714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4922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10" name="Text 108"/>
          <p:cNvSpPr/>
          <p:nvPr/>
        </p:nvSpPr>
        <p:spPr>
          <a:xfrm>
            <a:off x="7132320" y="1508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Cloud-Synced</a:t>
            </a:r>
            <a:endParaRPr lang="en-US" sz="1800" dirty="0"/>
          </a:p>
        </p:txBody>
      </p:sp>
      <p:sp>
        <p:nvSpPr>
          <p:cNvPr id="111" name="Text 109"/>
          <p:cNvSpPr/>
          <p:nvPr/>
        </p:nvSpPr>
        <p:spPr>
          <a:xfrm>
            <a:off x="7132320" y="2011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from any device, anytime, anywhere</a:t>
            </a:r>
            <a:endParaRPr lang="en-US" sz="1400" dirty="0"/>
          </a:p>
        </p:txBody>
      </p:sp>
      <p:sp>
        <p:nvSpPr>
          <p:cNvPr id="112" name="Shape 110"/>
          <p:cNvSpPr/>
          <p:nvPr/>
        </p:nvSpPr>
        <p:spPr>
          <a:xfrm>
            <a:off x="6217920" y="3017520"/>
            <a:ext cx="5029200" cy="1280160"/>
          </a:xfrm>
          <a:prstGeom prst="roundRect">
            <a:avLst>
              <a:gd name="adj" fmla="val 10714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4922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14" name="Text 112"/>
          <p:cNvSpPr/>
          <p:nvPr/>
        </p:nvSpPr>
        <p:spPr>
          <a:xfrm>
            <a:off x="7132320" y="3063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Dark UI</a:t>
            </a:r>
            <a:endParaRPr lang="en-US" sz="1800" dirty="0"/>
          </a:p>
        </p:txBody>
      </p:sp>
      <p:sp>
        <p:nvSpPr>
          <p:cNvPr id="115" name="Text 113"/>
          <p:cNvSpPr/>
          <p:nvPr/>
        </p:nvSpPr>
        <p:spPr>
          <a:xfrm>
            <a:off x="7132320" y="3566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to reduce eye strain and look stunning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Walkthrough</a:t>
            </a:r>
            <a:endParaRPr lang="en-US" sz="3600" dirty="0"/>
          </a:p>
        </p:txBody>
      </p:sp>
      <p:sp>
        <p:nvSpPr>
          <p:cNvPr id="95" name="Shape 93"/>
          <p:cNvSpPr/>
          <p:nvPr/>
        </p:nvSpPr>
        <p:spPr>
          <a:xfrm>
            <a:off x="731520" y="1051560"/>
            <a:ext cx="2743200" cy="54864"/>
          </a:xfrm>
          <a:prstGeom prst="rect">
            <a:avLst/>
          </a:prstGeom>
          <a:solidFill>
            <a:srgbClr val="A855F6"/>
          </a:solidFill>
          <a:ln/>
        </p:spPr>
      </p:sp>
      <p:sp>
        <p:nvSpPr>
          <p:cNvPr id="96" name="Shape 94"/>
          <p:cNvSpPr/>
          <p:nvPr/>
        </p:nvSpPr>
        <p:spPr>
          <a:xfrm>
            <a:off x="731520" y="137160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14400" y="15544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A855F6"/>
          </a:solidFill>
          <a:ln/>
        </p:spPr>
      </p:sp>
      <p:sp>
        <p:nvSpPr>
          <p:cNvPr id="98" name="Text 96"/>
          <p:cNvSpPr/>
          <p:nvPr/>
        </p:nvSpPr>
        <p:spPr>
          <a:xfrm>
            <a:off x="914400" y="1554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173736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173736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welcome screen with "Get Started" call-to-action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731520" y="256032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14400" y="27432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A855F6"/>
          </a:solidFill>
          <a:ln/>
        </p:spPr>
      </p:sp>
      <p:sp>
        <p:nvSpPr>
          <p:cNvPr id="103" name="Text 101"/>
          <p:cNvSpPr/>
          <p:nvPr/>
        </p:nvSpPr>
        <p:spPr>
          <a:xfrm>
            <a:off x="914400" y="27432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173736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/ Sign Up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173736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modal authentication powered by Clerk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731520" y="374904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914400" y="393192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A855F6"/>
          </a:solidFill>
          <a:ln/>
        </p:spPr>
      </p:sp>
      <p:sp>
        <p:nvSpPr>
          <p:cNvPr id="108" name="Text 106"/>
          <p:cNvSpPr/>
          <p:nvPr/>
        </p:nvSpPr>
        <p:spPr>
          <a:xfrm>
            <a:off x="914400" y="3931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109" name="Text 107"/>
          <p:cNvSpPr/>
          <p:nvPr/>
        </p:nvSpPr>
        <p:spPr>
          <a:xfrm>
            <a:off x="173736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10" name="Text 108"/>
          <p:cNvSpPr/>
          <p:nvPr/>
        </p:nvSpPr>
        <p:spPr>
          <a:xfrm>
            <a:off x="173736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list with live progress counter (e.g. 2/5 Completed)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731520" y="493776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14400" y="51206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A855F6"/>
          </a:solidFill>
          <a:ln/>
        </p:spPr>
      </p:sp>
      <p:sp>
        <p:nvSpPr>
          <p:cNvPr id="113" name="Text 111"/>
          <p:cNvSpPr/>
          <p:nvPr/>
        </p:nvSpPr>
        <p:spPr>
          <a:xfrm>
            <a:off x="914400" y="5120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1737360" y="4983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Task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1737360" y="5349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task → optionally set reminder date → click Add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6217920" y="137160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400800" y="155448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A855F6"/>
          </a:solidFill>
          <a:ln/>
        </p:spPr>
      </p:sp>
      <p:sp>
        <p:nvSpPr>
          <p:cNvPr id="118" name="Text 116"/>
          <p:cNvSpPr/>
          <p:nvPr/>
        </p:nvSpPr>
        <p:spPr>
          <a:xfrm>
            <a:off x="6400800" y="1554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600" dirty="0"/>
          </a:p>
        </p:txBody>
      </p:sp>
      <p:sp>
        <p:nvSpPr>
          <p:cNvPr id="119" name="Text 117"/>
          <p:cNvSpPr/>
          <p:nvPr/>
        </p:nvSpPr>
        <p:spPr>
          <a:xfrm>
            <a:off x="722376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a Task</a:t>
            </a:r>
            <a:endParaRPr lang="en-US" sz="1600" dirty="0"/>
          </a:p>
        </p:txBody>
      </p:sp>
      <p:sp>
        <p:nvSpPr>
          <p:cNvPr id="120" name="Text 118"/>
          <p:cNvSpPr/>
          <p:nvPr/>
        </p:nvSpPr>
        <p:spPr>
          <a:xfrm>
            <a:off x="722376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task text or Edit button for inline editing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6217920" y="256032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6400800" y="274320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A855F6"/>
          </a:solidFill>
          <a:ln/>
        </p:spPr>
      </p:sp>
      <p:sp>
        <p:nvSpPr>
          <p:cNvPr id="123" name="Text 121"/>
          <p:cNvSpPr/>
          <p:nvPr/>
        </p:nvSpPr>
        <p:spPr>
          <a:xfrm>
            <a:off x="6400800" y="27432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600" dirty="0"/>
          </a:p>
        </p:txBody>
      </p:sp>
      <p:sp>
        <p:nvSpPr>
          <p:cNvPr id="124" name="Text 122"/>
          <p:cNvSpPr/>
          <p:nvPr/>
        </p:nvSpPr>
        <p:spPr>
          <a:xfrm>
            <a:off x="722376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a Task</a:t>
            </a:r>
            <a:endParaRPr lang="en-US" sz="1600" dirty="0"/>
          </a:p>
        </p:txBody>
      </p:sp>
      <p:sp>
        <p:nvSpPr>
          <p:cNvPr id="125" name="Text 123"/>
          <p:cNvSpPr/>
          <p:nvPr/>
        </p:nvSpPr>
        <p:spPr>
          <a:xfrm>
            <a:off x="7223760" y="2971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the checkbox → task gets strikethrough styling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6217920" y="374904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400800" y="393192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A855F6"/>
          </a:solidFill>
          <a:ln/>
        </p:spPr>
      </p:sp>
      <p:sp>
        <p:nvSpPr>
          <p:cNvPr id="128" name="Text 126"/>
          <p:cNvSpPr/>
          <p:nvPr/>
        </p:nvSpPr>
        <p:spPr>
          <a:xfrm>
            <a:off x="6400800" y="3931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600" dirty="0"/>
          </a:p>
        </p:txBody>
      </p:sp>
      <p:sp>
        <p:nvSpPr>
          <p:cNvPr id="129" name="Text 127"/>
          <p:cNvSpPr/>
          <p:nvPr/>
        </p:nvSpPr>
        <p:spPr>
          <a:xfrm>
            <a:off x="722376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a Task</a:t>
            </a:r>
            <a:endParaRPr lang="en-US" sz="1600" dirty="0"/>
          </a:p>
        </p:txBody>
      </p:sp>
      <p:sp>
        <p:nvSpPr>
          <p:cNvPr id="130" name="Text 128"/>
          <p:cNvSpPr/>
          <p:nvPr/>
        </p:nvSpPr>
        <p:spPr>
          <a:xfrm>
            <a:off x="722376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trash icon → task removed instantly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6217920" y="4937760"/>
            <a:ext cx="5029200" cy="1005840"/>
          </a:xfrm>
          <a:prstGeom prst="roundRect">
            <a:avLst>
              <a:gd name="adj" fmla="val 909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400800" y="5120640"/>
            <a:ext cx="640080" cy="502920"/>
          </a:xfrm>
          <a:prstGeom prst="roundRect">
            <a:avLst>
              <a:gd name="adj" fmla="val 14545"/>
            </a:avLst>
          </a:prstGeom>
          <a:solidFill>
            <a:srgbClr val="A855F6"/>
          </a:solidFill>
          <a:ln/>
        </p:spPr>
      </p:sp>
      <p:sp>
        <p:nvSpPr>
          <p:cNvPr id="133" name="Text 131"/>
          <p:cNvSpPr/>
          <p:nvPr/>
        </p:nvSpPr>
        <p:spPr>
          <a:xfrm>
            <a:off x="6400800" y="5120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600" dirty="0"/>
          </a:p>
        </p:txBody>
      </p:sp>
      <p:sp>
        <p:nvSpPr>
          <p:cNvPr id="134" name="Text 132"/>
          <p:cNvSpPr/>
          <p:nvPr/>
        </p:nvSpPr>
        <p:spPr>
          <a:xfrm>
            <a:off x="7223760" y="4983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 Email</a:t>
            </a:r>
            <a:endParaRPr lang="en-US" sz="1600" dirty="0"/>
          </a:p>
        </p:txBody>
      </p:sp>
      <p:sp>
        <p:nvSpPr>
          <p:cNvPr id="135" name="Text 133"/>
          <p:cNvSpPr/>
          <p:nvPr/>
        </p:nvSpPr>
        <p:spPr>
          <a:xfrm>
            <a:off x="7223760" y="5349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email sent when reminder date arrives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Highlights</a:t>
            </a:r>
            <a:endParaRPr lang="en-US" sz="3600" dirty="0"/>
          </a:p>
        </p:txBody>
      </p:sp>
      <p:sp>
        <p:nvSpPr>
          <p:cNvPr id="95" name="Shape 93"/>
          <p:cNvSpPr/>
          <p:nvPr/>
        </p:nvSpPr>
        <p:spPr>
          <a:xfrm>
            <a:off x="731520" y="1051560"/>
            <a:ext cx="2743200" cy="54864"/>
          </a:xfrm>
          <a:prstGeom prst="rect">
            <a:avLst/>
          </a:prstGeom>
          <a:solidFill>
            <a:srgbClr val="A855F6"/>
          </a:solidFill>
          <a:ln/>
        </p:spPr>
      </p:sp>
      <p:sp>
        <p:nvSpPr>
          <p:cNvPr id="96" name="Shape 94"/>
          <p:cNvSpPr/>
          <p:nvPr/>
        </p:nvSpPr>
        <p:spPr>
          <a:xfrm>
            <a:off x="548640" y="137160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85800" y="1417320"/>
            <a:ext cx="329184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8" name="Text 96"/>
          <p:cNvSpPr/>
          <p:nvPr/>
        </p:nvSpPr>
        <p:spPr>
          <a:xfrm>
            <a:off x="54864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99" name="Text 97"/>
          <p:cNvSpPr/>
          <p:nvPr/>
        </p:nvSpPr>
        <p:spPr>
          <a:xfrm>
            <a:off x="548640" y="2286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Security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822960" y="3200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Sign Up / Sign In with email, Google, GitHub</a:t>
            </a:r>
            <a:endParaRPr lang="en-US" sz="1300" dirty="0"/>
          </a:p>
        </p:txBody>
      </p:sp>
      <p:sp>
        <p:nvSpPr>
          <p:cNvPr id="101" name="Text 99"/>
          <p:cNvSpPr/>
          <p:nvPr/>
        </p:nvSpPr>
        <p:spPr>
          <a:xfrm>
            <a:off x="82296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Enterprise-grade identity management via Clerk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822960" y="4572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Each user sees only their own tasks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822960" y="5257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Server-side authorization on every query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4297680" y="137160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434840" y="1417320"/>
            <a:ext cx="3291840" cy="54864"/>
          </a:xfrm>
          <a:prstGeom prst="rect">
            <a:avLst/>
          </a:prstGeom>
          <a:solidFill>
            <a:srgbClr val="A855F6"/>
          </a:solidFill>
          <a:ln/>
        </p:spPr>
      </p:sp>
      <p:sp>
        <p:nvSpPr>
          <p:cNvPr id="106" name="Text 104"/>
          <p:cNvSpPr/>
          <p:nvPr/>
        </p:nvSpPr>
        <p:spPr>
          <a:xfrm>
            <a:off x="429768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✏️</a:t>
            </a:r>
            <a:endParaRPr lang="en-US" sz="3200" dirty="0"/>
          </a:p>
        </p:txBody>
      </p:sp>
      <p:sp>
        <p:nvSpPr>
          <p:cNvPr id="107" name="Text 105"/>
          <p:cNvSpPr/>
          <p:nvPr/>
        </p:nvSpPr>
        <p:spPr>
          <a:xfrm>
            <a:off x="4297680" y="2286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CRUD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108" name="Text 106"/>
          <p:cNvSpPr/>
          <p:nvPr/>
        </p:nvSpPr>
        <p:spPr>
          <a:xfrm>
            <a:off x="4572000" y="3200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Create tasks with a single input field</a:t>
            </a:r>
            <a:endParaRPr lang="en-US" sz="1300" dirty="0"/>
          </a:p>
        </p:txBody>
      </p:sp>
      <p:sp>
        <p:nvSpPr>
          <p:cNvPr id="109" name="Text 107"/>
          <p:cNvSpPr/>
          <p:nvPr/>
        </p:nvSpPr>
        <p:spPr>
          <a:xfrm>
            <a:off x="457200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Read task list sorted by newest first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4572000" y="4572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Update via click-to-edit inline editing</a:t>
            </a:r>
            <a:endParaRPr lang="en-US" sz="1300" dirty="0"/>
          </a:p>
        </p:txBody>
      </p:sp>
      <p:sp>
        <p:nvSpPr>
          <p:cNvPr id="111" name="Text 109"/>
          <p:cNvSpPr/>
          <p:nvPr/>
        </p:nvSpPr>
        <p:spPr>
          <a:xfrm>
            <a:off x="4572000" y="5257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Delete tasks with one-click removal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8046720" y="137160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83880" y="1417320"/>
            <a:ext cx="3291840" cy="54864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114" name="Text 112"/>
          <p:cNvSpPr/>
          <p:nvPr/>
        </p:nvSpPr>
        <p:spPr>
          <a:xfrm>
            <a:off x="8046720" y="16459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115" name="Text 113"/>
          <p:cNvSpPr/>
          <p:nvPr/>
        </p:nvSpPr>
        <p:spPr>
          <a:xfrm>
            <a:off x="8046720" y="22860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Reminders</a:t>
            </a:r>
            <a:endParaRPr lang="en-US" sz="1800" dirty="0"/>
          </a:p>
        </p:txBody>
      </p:sp>
      <p:sp>
        <p:nvSpPr>
          <p:cNvPr id="116" name="Text 114"/>
          <p:cNvSpPr/>
          <p:nvPr/>
        </p:nvSpPr>
        <p:spPr>
          <a:xfrm>
            <a:off x="8321040" y="32004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Set date &amp; time reminder for any task</a:t>
            </a:r>
            <a:endParaRPr lang="en-US" sz="1300" dirty="0"/>
          </a:p>
        </p:txBody>
      </p:sp>
      <p:sp>
        <p:nvSpPr>
          <p:cNvPr id="117" name="Text 115"/>
          <p:cNvSpPr/>
          <p:nvPr/>
        </p:nvSpPr>
        <p:spPr>
          <a:xfrm>
            <a:off x="832104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Automated email via Resend API</a:t>
            </a:r>
            <a:endParaRPr lang="en-US" sz="1300" dirty="0"/>
          </a:p>
        </p:txBody>
      </p:sp>
      <p:sp>
        <p:nvSpPr>
          <p:cNvPr id="118" name="Text 116"/>
          <p:cNvSpPr/>
          <p:nvPr/>
        </p:nvSpPr>
        <p:spPr>
          <a:xfrm>
            <a:off x="8321040" y="4572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Cron job engine for scheduled checks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8321040" y="5257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Auto-clears reminder after notification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Overview</a:t>
            </a:r>
            <a:endParaRPr lang="en-US" sz="3600" dirty="0"/>
          </a:p>
        </p:txBody>
      </p:sp>
      <p:sp>
        <p:nvSpPr>
          <p:cNvPr id="95" name="Shape 93"/>
          <p:cNvSpPr/>
          <p:nvPr/>
        </p:nvSpPr>
        <p:spPr>
          <a:xfrm>
            <a:off x="731520" y="1051560"/>
            <a:ext cx="3657600" cy="54864"/>
          </a:xfrm>
          <a:prstGeom prst="rect">
            <a:avLst/>
          </a:prstGeom>
          <a:solidFill>
            <a:srgbClr val="A855F6"/>
          </a:solidFill>
          <a:ln/>
        </p:spPr>
      </p:sp>
      <p:sp>
        <p:nvSpPr>
          <p:cNvPr id="96" name="Shape 94"/>
          <p:cNvSpPr/>
          <p:nvPr/>
        </p:nvSpPr>
        <p:spPr>
          <a:xfrm>
            <a:off x="3200400" y="1371600"/>
            <a:ext cx="5760720" cy="91440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00400" y="137160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Frontend  —  Next.js 16 + React 19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5669280" y="2331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55F6"/>
                </a:solidFill>
              </a:rPr>
              <a:t>▼</a:t>
            </a:r>
            <a:endParaRPr lang="en-US" sz="2200" dirty="0"/>
          </a:p>
        </p:txBody>
      </p:sp>
      <p:sp>
        <p:nvSpPr>
          <p:cNvPr id="99" name="Text 97"/>
          <p:cNvSpPr/>
          <p:nvPr/>
        </p:nvSpPr>
        <p:spPr>
          <a:xfrm>
            <a:off x="4572000" y="2286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Server Actions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1828800" y="292608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828800" y="2926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Clerk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4846320" y="292608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25400">
            <a:solidFill>
              <a:srgbClr val="A855F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846320" y="2926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🗃️ Drizzle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ORM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7863840" y="292608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25400">
            <a:solidFill>
              <a:srgbClr val="D946E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863840" y="2926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Resend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600" dirty="0"/>
          </a:p>
        </p:txBody>
      </p:sp>
      <p:sp>
        <p:nvSpPr>
          <p:cNvPr id="106" name="Text 104"/>
          <p:cNvSpPr/>
          <p:nvPr/>
        </p:nvSpPr>
        <p:spPr>
          <a:xfrm>
            <a:off x="5669280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55F6"/>
                </a:solidFill>
              </a:rPr>
              <a:t>▼</a:t>
            </a:r>
            <a:endParaRPr lang="en-US" sz="2200" dirty="0"/>
          </a:p>
        </p:txBody>
      </p:sp>
      <p:sp>
        <p:nvSpPr>
          <p:cNvPr id="107" name="Shape 105"/>
          <p:cNvSpPr/>
          <p:nvPr/>
        </p:nvSpPr>
        <p:spPr>
          <a:xfrm>
            <a:off x="3657600" y="457200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14141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657600" y="45720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 Xata — Serverless PostgreSQL Database</a:t>
            </a: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4114800" y="566928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A855F6"/>
          </a:solidFill>
          <a:ln/>
        </p:spPr>
      </p:sp>
      <p:sp>
        <p:nvSpPr>
          <p:cNvPr id="110" name="Text 108"/>
          <p:cNvSpPr/>
          <p:nvPr/>
        </p:nvSpPr>
        <p:spPr>
          <a:xfrm>
            <a:off x="4114800" y="56692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 Deployed on Vercel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95" name="Shape 93"/>
          <p:cNvSpPr/>
          <p:nvPr/>
        </p:nvSpPr>
        <p:spPr>
          <a:xfrm>
            <a:off x="731520" y="1051560"/>
            <a:ext cx="3200400" cy="54864"/>
          </a:xfrm>
          <a:prstGeom prst="rect">
            <a:avLst/>
          </a:prstGeom>
          <a:solidFill>
            <a:srgbClr val="A855F6"/>
          </a:solidFill>
          <a:ln/>
        </p:spPr>
      </p:sp>
      <p:sp>
        <p:nvSpPr>
          <p:cNvPr id="96" name="Shape 94"/>
          <p:cNvSpPr/>
          <p:nvPr/>
        </p:nvSpPr>
        <p:spPr>
          <a:xfrm>
            <a:off x="731520" y="1325880"/>
            <a:ext cx="10698480" cy="548640"/>
          </a:xfrm>
          <a:prstGeom prst="roundRect">
            <a:avLst>
              <a:gd name="adj" fmla="val 13333"/>
            </a:avLst>
          </a:prstGeom>
          <a:solidFill>
            <a:srgbClr val="A855F6"/>
          </a:solidFill>
          <a:ln/>
        </p:spPr>
      </p:sp>
      <p:sp>
        <p:nvSpPr>
          <p:cNvPr id="97" name="Text 95"/>
          <p:cNvSpPr/>
          <p:nvPr/>
        </p:nvSpPr>
        <p:spPr>
          <a:xfrm>
            <a:off x="822960" y="1325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</a:t>
            </a:r>
            <a:endParaRPr lang="en-US" sz="1400" dirty="0"/>
          </a:p>
        </p:txBody>
      </p:sp>
      <p:sp>
        <p:nvSpPr>
          <p:cNvPr id="98" name="Text 96"/>
          <p:cNvSpPr/>
          <p:nvPr/>
        </p:nvSpPr>
        <p:spPr>
          <a:xfrm>
            <a:off x="3383280" y="1325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6126480" y="1325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731520" y="1920240"/>
            <a:ext cx="10698480" cy="502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1" name="Text 99"/>
          <p:cNvSpPr/>
          <p:nvPr/>
        </p:nvSpPr>
        <p:spPr>
          <a:xfrm>
            <a:off x="822960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3383280" y="1920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6126480" y="19202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version with server actions &amp; fast builds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731520" y="2423160"/>
            <a:ext cx="10698480" cy="502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5" name="Text 103"/>
          <p:cNvSpPr/>
          <p:nvPr/>
        </p:nvSpPr>
        <p:spPr>
          <a:xfrm>
            <a:off x="822960" y="24231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Library</a:t>
            </a:r>
            <a:endParaRPr lang="en-US" sz="1300" dirty="0"/>
          </a:p>
        </p:txBody>
      </p:sp>
      <p:sp>
        <p:nvSpPr>
          <p:cNvPr id="106" name="Text 104"/>
          <p:cNvSpPr/>
          <p:nvPr/>
        </p:nvSpPr>
        <p:spPr>
          <a:xfrm>
            <a:off x="3383280" y="2423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107" name="Text 105"/>
          <p:cNvSpPr/>
          <p:nvPr/>
        </p:nvSpPr>
        <p:spPr>
          <a:xfrm>
            <a:off x="6126480" y="24231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concurrent rendering engine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731520" y="2926080"/>
            <a:ext cx="10698480" cy="502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9" name="Text 107"/>
          <p:cNvSpPr/>
          <p:nvPr/>
        </p:nvSpPr>
        <p:spPr>
          <a:xfrm>
            <a:off x="822960" y="29260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338328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4</a:t>
            </a:r>
            <a:endParaRPr lang="en-US" sz="1300" dirty="0"/>
          </a:p>
        </p:txBody>
      </p:sp>
      <p:sp>
        <p:nvSpPr>
          <p:cNvPr id="111" name="Text 109"/>
          <p:cNvSpPr/>
          <p:nvPr/>
        </p:nvSpPr>
        <p:spPr>
          <a:xfrm>
            <a:off x="6126480" y="29260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Utility-first, rapid UI development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731520" y="3429000"/>
            <a:ext cx="10698480" cy="502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3" name="Text 111"/>
          <p:cNvSpPr/>
          <p:nvPr/>
        </p:nvSpPr>
        <p:spPr>
          <a:xfrm>
            <a:off x="82296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14" name="Text 112"/>
          <p:cNvSpPr/>
          <p:nvPr/>
        </p:nvSpPr>
        <p:spPr>
          <a:xfrm>
            <a:off x="338328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Clerk</a:t>
            </a:r>
            <a:endParaRPr lang="en-US" sz="1300" dirty="0"/>
          </a:p>
        </p:txBody>
      </p:sp>
      <p:sp>
        <p:nvSpPr>
          <p:cNvPr id="115" name="Text 113"/>
          <p:cNvSpPr/>
          <p:nvPr/>
        </p:nvSpPr>
        <p:spPr>
          <a:xfrm>
            <a:off x="6126480" y="3429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OAuth, email/password, session management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731520" y="3931920"/>
            <a:ext cx="10698480" cy="502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7" name="Text 115"/>
          <p:cNvSpPr/>
          <p:nvPr/>
        </p:nvSpPr>
        <p:spPr>
          <a:xfrm>
            <a:off x="822960" y="3931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18" name="Text 116"/>
          <p:cNvSpPr/>
          <p:nvPr/>
        </p:nvSpPr>
        <p:spPr>
          <a:xfrm>
            <a:off x="3383280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Xata (PostgreSQL)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6126480" y="3931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Serverless, scalable, zero-config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731520" y="4434840"/>
            <a:ext cx="10698480" cy="502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1" name="Text 119"/>
          <p:cNvSpPr/>
          <p:nvPr/>
        </p:nvSpPr>
        <p:spPr>
          <a:xfrm>
            <a:off x="822960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ORM</a:t>
            </a:r>
            <a:endParaRPr lang="en-US" sz="1300" dirty="0"/>
          </a:p>
        </p:txBody>
      </p:sp>
      <p:sp>
        <p:nvSpPr>
          <p:cNvPr id="122" name="Text 120"/>
          <p:cNvSpPr/>
          <p:nvPr/>
        </p:nvSpPr>
        <p:spPr>
          <a:xfrm>
            <a:off x="3383280" y="4434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Drizzle ORM</a:t>
            </a:r>
            <a:endParaRPr lang="en-US" sz="1300" dirty="0"/>
          </a:p>
        </p:txBody>
      </p:sp>
      <p:sp>
        <p:nvSpPr>
          <p:cNvPr id="123" name="Text 121"/>
          <p:cNvSpPr/>
          <p:nvPr/>
        </p:nvSpPr>
        <p:spPr>
          <a:xfrm>
            <a:off x="6126480" y="4434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Type-safe SQL queries, lightweight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731520" y="4937760"/>
            <a:ext cx="10698480" cy="502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25" name="Text 123"/>
          <p:cNvSpPr/>
          <p:nvPr/>
        </p:nvSpPr>
        <p:spPr>
          <a:xfrm>
            <a:off x="822960" y="4937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300" dirty="0"/>
          </a:p>
        </p:txBody>
      </p:sp>
      <p:sp>
        <p:nvSpPr>
          <p:cNvPr id="126" name="Text 124"/>
          <p:cNvSpPr/>
          <p:nvPr/>
        </p:nvSpPr>
        <p:spPr>
          <a:xfrm>
            <a:off x="3383280" y="4937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Resend</a:t>
            </a:r>
            <a:endParaRPr lang="en-US" sz="1300" dirty="0"/>
          </a:p>
        </p:txBody>
      </p:sp>
      <p:sp>
        <p:nvSpPr>
          <p:cNvPr id="127" name="Text 125"/>
          <p:cNvSpPr/>
          <p:nvPr/>
        </p:nvSpPr>
        <p:spPr>
          <a:xfrm>
            <a:off x="6126480" y="49377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Developer-first transactional email API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9" name="Text 127"/>
          <p:cNvSpPr/>
          <p:nvPr/>
        </p:nvSpPr>
        <p:spPr>
          <a:xfrm>
            <a:off x="822960" y="54406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30" name="Text 128"/>
          <p:cNvSpPr/>
          <p:nvPr/>
        </p:nvSpPr>
        <p:spPr>
          <a:xfrm>
            <a:off x="3383280" y="5440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</a:t>
            </a:r>
            <a:endParaRPr lang="en-US" sz="1300" dirty="0"/>
          </a:p>
        </p:txBody>
      </p:sp>
      <p:sp>
        <p:nvSpPr>
          <p:cNvPr id="131" name="Text 129"/>
          <p:cNvSpPr/>
          <p:nvPr/>
        </p:nvSpPr>
        <p:spPr>
          <a:xfrm>
            <a:off x="6126480" y="54406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Zero-downtime, edge-optimized hosting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33" name="Text 131"/>
          <p:cNvSpPr/>
          <p:nvPr/>
        </p:nvSpPr>
        <p:spPr>
          <a:xfrm>
            <a:off x="822960" y="5943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134" name="Text 132"/>
          <p:cNvSpPr/>
          <p:nvPr/>
        </p:nvSpPr>
        <p:spPr>
          <a:xfrm>
            <a:off x="3383280" y="5943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35" name="Text 133"/>
          <p:cNvSpPr/>
          <p:nvPr/>
        </p:nvSpPr>
        <p:spPr>
          <a:xfrm>
            <a:off x="6126480" y="5943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type safety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/ UX Design</a:t>
            </a:r>
            <a:endParaRPr lang="en-US" sz="3600" dirty="0"/>
          </a:p>
        </p:txBody>
      </p:sp>
      <p:sp>
        <p:nvSpPr>
          <p:cNvPr id="95" name="Text 93"/>
          <p:cNvSpPr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55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for Delight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731520" y="1325880"/>
            <a:ext cx="2286000" cy="54864"/>
          </a:xfrm>
          <a:prstGeom prst="rect">
            <a:avLst/>
          </a:prstGeom>
          <a:solidFill>
            <a:srgbClr val="A855F6"/>
          </a:solidFill>
          <a:ln/>
        </p:spPr>
      </p:sp>
      <p:sp>
        <p:nvSpPr>
          <p:cNvPr id="97" name="Shape 95"/>
          <p:cNvSpPr/>
          <p:nvPr/>
        </p:nvSpPr>
        <p:spPr>
          <a:xfrm>
            <a:off x="731520" y="16459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14400" y="16916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🌑</a:t>
            </a:r>
            <a:endParaRPr lang="en-US" sz="2600" dirty="0"/>
          </a:p>
        </p:txBody>
      </p:sp>
      <p:sp>
        <p:nvSpPr>
          <p:cNvPr id="99" name="Text 97"/>
          <p:cNvSpPr/>
          <p:nvPr/>
        </p:nvSpPr>
        <p:spPr>
          <a:xfrm>
            <a:off x="1645920" y="1645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Dark Mode First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1645920" y="2057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eye strain, feels premium and modern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731520" y="27889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14400" y="28346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🌈</a:t>
            </a:r>
            <a:endParaRPr lang="en-US" sz="2600" dirty="0"/>
          </a:p>
        </p:txBody>
      </p:sp>
      <p:sp>
        <p:nvSpPr>
          <p:cNvPr id="103" name="Text 101"/>
          <p:cNvSpPr/>
          <p:nvPr/>
        </p:nvSpPr>
        <p:spPr>
          <a:xfrm>
            <a:off x="1645920" y="2788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Gradient Accents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1645920" y="3200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Purple → Fuchsia → Indigo branded color system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731520" y="39319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14400" y="39776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107" name="Text 105"/>
          <p:cNvSpPr/>
          <p:nvPr/>
        </p:nvSpPr>
        <p:spPr>
          <a:xfrm>
            <a:off x="164592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Glassmorphism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1645920" y="4343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Semi-transparent cards with backdrop blur effects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731520" y="50749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14400" y="51206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111" name="Text 109"/>
          <p:cNvSpPr/>
          <p:nvPr/>
        </p:nvSpPr>
        <p:spPr>
          <a:xfrm>
            <a:off x="1645920" y="5074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Grid Background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1645920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Subtle depth with masked grid pattern overlay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6217920" y="16459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400800" y="16916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115" name="Text 113"/>
          <p:cNvSpPr/>
          <p:nvPr/>
        </p:nvSpPr>
        <p:spPr>
          <a:xfrm>
            <a:off x="7132320" y="1645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Geist Typography</a:t>
            </a:r>
            <a:endParaRPr lang="en-US" sz="1600" dirty="0"/>
          </a:p>
        </p:txBody>
      </p:sp>
      <p:sp>
        <p:nvSpPr>
          <p:cNvPr id="116" name="Text 114"/>
          <p:cNvSpPr/>
          <p:nvPr/>
        </p:nvSpPr>
        <p:spPr>
          <a:xfrm>
            <a:off x="7132320" y="2057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Clean, modern font from Vercel's design system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6217920" y="27889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400800" y="28346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19" name="Text 117"/>
          <p:cNvSpPr/>
          <p:nvPr/>
        </p:nvSpPr>
        <p:spPr>
          <a:xfrm>
            <a:off x="7132320" y="2788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Layout</a:t>
            </a:r>
            <a:endParaRPr lang="en-US" sz="1600" dirty="0"/>
          </a:p>
        </p:txBody>
      </p:sp>
      <p:sp>
        <p:nvSpPr>
          <p:cNvPr id="120" name="Text 118"/>
          <p:cNvSpPr/>
          <p:nvPr/>
        </p:nvSpPr>
        <p:spPr>
          <a:xfrm>
            <a:off x="7132320" y="3200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Beautiful on desktop, tablet, and mobile screens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6217920" y="39319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400800" y="3977640"/>
            <a:ext cx="731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💫</a:t>
            </a:r>
            <a:endParaRPr lang="en-US" sz="2600" dirty="0"/>
          </a:p>
        </p:txBody>
      </p:sp>
      <p:sp>
        <p:nvSpPr>
          <p:cNvPr id="123" name="Text 121"/>
          <p:cNvSpPr/>
          <p:nvPr/>
        </p:nvSpPr>
        <p:spPr>
          <a:xfrm>
            <a:off x="713232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Micro-interactions</a:t>
            </a:r>
            <a:endParaRPr lang="en-US" sz="1600" dirty="0"/>
          </a:p>
        </p:txBody>
      </p:sp>
      <p:sp>
        <p:nvSpPr>
          <p:cNvPr id="124" name="Text 122"/>
          <p:cNvSpPr/>
          <p:nvPr/>
        </p:nvSpPr>
        <p:spPr>
          <a:xfrm>
            <a:off x="7132320" y="4343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Hover effects, transitions, and animated states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Data Privacy</a:t>
            </a:r>
            <a:endParaRPr lang="en-US" sz="3600" dirty="0"/>
          </a:p>
        </p:txBody>
      </p:sp>
      <p:sp>
        <p:nvSpPr>
          <p:cNvPr id="95" name="Text 93"/>
          <p:cNvSpPr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Security in Mind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731520" y="1325880"/>
            <a:ext cx="36576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7" name="Shape 95"/>
          <p:cNvSpPr/>
          <p:nvPr/>
        </p:nvSpPr>
        <p:spPr>
          <a:xfrm>
            <a:off x="1371600" y="164592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41414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554480" y="16916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37744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at Every Layer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2377440" y="2011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Clerk middleware protects all routes — no unauthenticated access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1371600" y="260604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41414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554480" y="26517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03" name="Text 101"/>
          <p:cNvSpPr/>
          <p:nvPr/>
        </p:nvSpPr>
        <p:spPr>
          <a:xfrm>
            <a:off x="2377440" y="2606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Authorization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237744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database query verifies userId — data isolation guaranteed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1371600" y="356616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41414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54480" y="36118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107" name="Text 105"/>
          <p:cNvSpPr/>
          <p:nvPr/>
        </p:nvSpPr>
        <p:spPr>
          <a:xfrm>
            <a:off x="2377440" y="3566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Cross-User Data Leaks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23774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can never see, edit, or delete each other's tasks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1371600" y="452628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41414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554480" y="45720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111" name="Text 109"/>
          <p:cNvSpPr/>
          <p:nvPr/>
        </p:nvSpPr>
        <p:spPr>
          <a:xfrm>
            <a:off x="2377440" y="4526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Email Delivery</a:t>
            </a:r>
            <a:endParaRPr lang="en-US" sz="1600" dirty="0"/>
          </a:p>
        </p:txBody>
      </p:sp>
      <p:sp>
        <p:nvSpPr>
          <p:cNvPr id="112" name="Text 110"/>
          <p:cNvSpPr/>
          <p:nvPr/>
        </p:nvSpPr>
        <p:spPr>
          <a:xfrm>
            <a:off x="2377440" y="4892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Resend handles email with DKIM/SPF email authentication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1371600" y="5486400"/>
            <a:ext cx="9418320" cy="777240"/>
          </a:xfrm>
          <a:prstGeom prst="roundRect">
            <a:avLst>
              <a:gd name="adj" fmla="val 11765"/>
            </a:avLst>
          </a:prstGeom>
          <a:solidFill>
            <a:srgbClr val="141414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554480" y="55321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15" name="Text 113"/>
          <p:cNvSpPr/>
          <p:nvPr/>
        </p:nvSpPr>
        <p:spPr>
          <a:xfrm>
            <a:off x="2377440" y="5486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Secrets</a:t>
            </a:r>
            <a:endParaRPr lang="en-US" sz="1600" dirty="0"/>
          </a:p>
        </p:txBody>
      </p:sp>
      <p:sp>
        <p:nvSpPr>
          <p:cNvPr id="116" name="Text 114"/>
          <p:cNvSpPr/>
          <p:nvPr/>
        </p:nvSpPr>
        <p:spPr>
          <a:xfrm>
            <a:off x="2377440" y="5852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API keys stored in .env.local — never committed to source control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&amp; Infrastructure</a:t>
            </a:r>
            <a:endParaRPr lang="en-US" sz="3600" dirty="0"/>
          </a:p>
        </p:txBody>
      </p:sp>
      <p:sp>
        <p:nvSpPr>
          <p:cNvPr id="95" name="Text 93"/>
          <p:cNvSpPr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 from Day One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731520" y="1325880"/>
            <a:ext cx="4572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7" name="Shape 95"/>
          <p:cNvSpPr/>
          <p:nvPr/>
        </p:nvSpPr>
        <p:spPr>
          <a:xfrm>
            <a:off x="731520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1440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</a:rPr>
              <a:t>▲</a:t>
            </a:r>
            <a:endParaRPr lang="en-US" sz="2800" dirty="0"/>
          </a:p>
        </p:txBody>
      </p:sp>
      <p:sp>
        <p:nvSpPr>
          <p:cNvPr id="99" name="Text 97"/>
          <p:cNvSpPr/>
          <p:nvPr/>
        </p:nvSpPr>
        <p:spPr>
          <a:xfrm>
            <a:off x="16459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Hosted on Vercel</a:t>
            </a:r>
            <a:endParaRPr lang="en-US" sz="1700" dirty="0"/>
          </a:p>
        </p:txBody>
      </p:sp>
      <p:sp>
        <p:nvSpPr>
          <p:cNvPr id="100" name="Text 98"/>
          <p:cNvSpPr/>
          <p:nvPr/>
        </p:nvSpPr>
        <p:spPr>
          <a:xfrm>
            <a:off x="1645920" y="2148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deployments from Git with zero configuration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731520" y="31089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14400" y="3200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</a:rPr>
              <a:t>⚡</a:t>
            </a:r>
            <a:endParaRPr lang="en-US" sz="2800" dirty="0"/>
          </a:p>
        </p:txBody>
      </p:sp>
      <p:sp>
        <p:nvSpPr>
          <p:cNvPr id="103" name="Text 101"/>
          <p:cNvSpPr/>
          <p:nvPr/>
        </p:nvSpPr>
        <p:spPr>
          <a:xfrm>
            <a:off x="1645920" y="3154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Architecture</a:t>
            </a:r>
            <a:endParaRPr lang="en-US" sz="1700" dirty="0"/>
          </a:p>
        </p:txBody>
      </p:sp>
      <p:sp>
        <p:nvSpPr>
          <p:cNvPr id="104" name="Text 102"/>
          <p:cNvSpPr/>
          <p:nvPr/>
        </p:nvSpPr>
        <p:spPr>
          <a:xfrm>
            <a:off x="164592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Scales to zero when idle, scales to millions under load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731520" y="457200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14400" y="4663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</a:rPr>
              <a:t>🔄</a:t>
            </a:r>
            <a:endParaRPr lang="en-US" sz="2800" dirty="0"/>
          </a:p>
        </p:txBody>
      </p:sp>
      <p:sp>
        <p:nvSpPr>
          <p:cNvPr id="107" name="Text 105"/>
          <p:cNvSpPr/>
          <p:nvPr/>
        </p:nvSpPr>
        <p:spPr>
          <a:xfrm>
            <a:off x="1645920" y="4617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 Jobs</a:t>
            </a:r>
            <a:endParaRPr lang="en-US" sz="1700" dirty="0"/>
          </a:p>
        </p:txBody>
      </p:sp>
      <p:sp>
        <p:nvSpPr>
          <p:cNvPr id="108" name="Text 106"/>
          <p:cNvSpPr/>
          <p:nvPr/>
        </p:nvSpPr>
        <p:spPr>
          <a:xfrm>
            <a:off x="1645920" y="5074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reminder engine runs on a scheduled interval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6217920" y="16459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0080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</a:rPr>
              <a:t>🌍</a:t>
            </a:r>
            <a:endParaRPr lang="en-US" sz="2800" dirty="0"/>
          </a:p>
        </p:txBody>
      </p:sp>
      <p:sp>
        <p:nvSpPr>
          <p:cNvPr id="111" name="Text 109"/>
          <p:cNvSpPr/>
          <p:nvPr/>
        </p:nvSpPr>
        <p:spPr>
          <a:xfrm>
            <a:off x="71323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Edge-Optimized</a:t>
            </a:r>
            <a:endParaRPr lang="en-US" sz="1700" dirty="0"/>
          </a:p>
        </p:txBody>
      </p:sp>
      <p:sp>
        <p:nvSpPr>
          <p:cNvPr id="112" name="Text 110"/>
          <p:cNvSpPr/>
          <p:nvPr/>
        </p:nvSpPr>
        <p:spPr>
          <a:xfrm>
            <a:off x="7132320" y="2148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response times for users across the globe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6217920" y="310896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400800" y="32004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</a:rPr>
              <a:t>🚀</a:t>
            </a:r>
            <a:endParaRPr lang="en-US" sz="2800" dirty="0"/>
          </a:p>
        </p:txBody>
      </p:sp>
      <p:sp>
        <p:nvSpPr>
          <p:cNvPr id="115" name="Text 113"/>
          <p:cNvSpPr/>
          <p:nvPr/>
        </p:nvSpPr>
        <p:spPr>
          <a:xfrm>
            <a:off x="7132320" y="3154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</a:t>
            </a:r>
            <a:endParaRPr lang="en-US" sz="1700" dirty="0"/>
          </a:p>
        </p:txBody>
      </p:sp>
      <p:sp>
        <p:nvSpPr>
          <p:cNvPr id="116" name="Text 114"/>
          <p:cNvSpPr/>
          <p:nvPr/>
        </p:nvSpPr>
        <p:spPr>
          <a:xfrm>
            <a:off x="713232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to main branch → automatically built and deployed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3600" dirty="0"/>
          </a:p>
        </p:txBody>
      </p:sp>
      <p:sp>
        <p:nvSpPr>
          <p:cNvPr id="95" name="Shape 93"/>
          <p:cNvSpPr/>
          <p:nvPr/>
        </p:nvSpPr>
        <p:spPr>
          <a:xfrm>
            <a:off x="731520" y="1051560"/>
            <a:ext cx="2743200" cy="54864"/>
          </a:xfrm>
          <a:prstGeom prst="rect">
            <a:avLst/>
          </a:prstGeom>
          <a:solidFill>
            <a:srgbClr val="A855F6"/>
          </a:solidFill>
          <a:ln/>
        </p:spPr>
      </p:sp>
      <p:sp>
        <p:nvSpPr>
          <p:cNvPr id="96" name="Shape 94"/>
          <p:cNvSpPr/>
          <p:nvPr/>
        </p:nvSpPr>
        <p:spPr>
          <a:xfrm>
            <a:off x="822960" y="1600200"/>
            <a:ext cx="228600" cy="2286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7" name="Shape 95"/>
          <p:cNvSpPr/>
          <p:nvPr/>
        </p:nvSpPr>
        <p:spPr>
          <a:xfrm>
            <a:off x="923544" y="1828800"/>
            <a:ext cx="27432" cy="1325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8" name="Shape 96"/>
          <p:cNvSpPr/>
          <p:nvPr/>
        </p:nvSpPr>
        <p:spPr>
          <a:xfrm>
            <a:off x="1280160" y="1371600"/>
            <a:ext cx="4572000" cy="1280160"/>
          </a:xfrm>
          <a:prstGeom prst="roundRect">
            <a:avLst>
              <a:gd name="adj" fmla="val 857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463040" y="150876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6366F1"/>
          </a:solidFill>
          <a:ln/>
        </p:spPr>
      </p:sp>
      <p:sp>
        <p:nvSpPr>
          <p:cNvPr id="100" name="Text 98"/>
          <p:cNvSpPr/>
          <p:nvPr/>
        </p:nvSpPr>
        <p:spPr>
          <a:xfrm>
            <a:off x="1463040" y="15087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v1.1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2423160" y="1463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Categories / Tags</a:t>
            </a:r>
            <a:endParaRPr lang="en-US" sz="1700" dirty="0"/>
          </a:p>
        </p:txBody>
      </p:sp>
      <p:sp>
        <p:nvSpPr>
          <p:cNvPr id="102" name="Text 100"/>
          <p:cNvSpPr/>
          <p:nvPr/>
        </p:nvSpPr>
        <p:spPr>
          <a:xfrm>
            <a:off x="150876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Organize tasks by project or label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822960" y="3154680"/>
            <a:ext cx="228600" cy="228600"/>
          </a:xfrm>
          <a:prstGeom prst="ellipse">
            <a:avLst/>
          </a:prstGeom>
          <a:solidFill>
            <a:srgbClr val="A855F6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23544" y="3383280"/>
            <a:ext cx="27432" cy="1325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280160" y="2926080"/>
            <a:ext cx="4572000" cy="1280160"/>
          </a:xfrm>
          <a:prstGeom prst="roundRect">
            <a:avLst>
              <a:gd name="adj" fmla="val 857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463040" y="30632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A855F6"/>
          </a:solidFill>
          <a:ln/>
        </p:spPr>
      </p:sp>
      <p:sp>
        <p:nvSpPr>
          <p:cNvPr id="107" name="Text 105"/>
          <p:cNvSpPr/>
          <p:nvPr/>
        </p:nvSpPr>
        <p:spPr>
          <a:xfrm>
            <a:off x="1463040" y="30632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v1.2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2423160" y="3017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Levels</a:t>
            </a:r>
            <a:endParaRPr lang="en-US" sz="1700" dirty="0"/>
          </a:p>
        </p:txBody>
      </p:sp>
      <p:sp>
        <p:nvSpPr>
          <p:cNvPr id="109" name="Text 107"/>
          <p:cNvSpPr/>
          <p:nvPr/>
        </p:nvSpPr>
        <p:spPr>
          <a:xfrm>
            <a:off x="150876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/ Medium / Low priority sorting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822960" y="4709160"/>
            <a:ext cx="228600" cy="22860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280160" y="4480560"/>
            <a:ext cx="4572000" cy="1280160"/>
          </a:xfrm>
          <a:prstGeom prst="roundRect">
            <a:avLst>
              <a:gd name="adj" fmla="val 857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463040" y="461772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D946EF"/>
          </a:solidFill>
          <a:ln/>
        </p:spPr>
      </p:sp>
      <p:sp>
        <p:nvSpPr>
          <p:cNvPr id="113" name="Text 111"/>
          <p:cNvSpPr/>
          <p:nvPr/>
        </p:nvSpPr>
        <p:spPr>
          <a:xfrm>
            <a:off x="1463040" y="46177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v1.3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2423160" y="4572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Dates &amp; Calendar</a:t>
            </a:r>
            <a:endParaRPr lang="en-US" sz="1700" dirty="0"/>
          </a:p>
        </p:txBody>
      </p:sp>
      <p:sp>
        <p:nvSpPr>
          <p:cNvPr id="115" name="Text 113"/>
          <p:cNvSpPr/>
          <p:nvPr/>
        </p:nvSpPr>
        <p:spPr>
          <a:xfrm>
            <a:off x="1508760" y="5120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calendar view for task planning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6309360" y="1600200"/>
            <a:ext cx="228600" cy="2286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6409944" y="1828800"/>
            <a:ext cx="27432" cy="1325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6766560" y="1371600"/>
            <a:ext cx="4572000" cy="1280160"/>
          </a:xfrm>
          <a:prstGeom prst="roundRect">
            <a:avLst>
              <a:gd name="adj" fmla="val 857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949440" y="150876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/>
        </p:spPr>
      </p:sp>
      <p:sp>
        <p:nvSpPr>
          <p:cNvPr id="120" name="Text 118"/>
          <p:cNvSpPr/>
          <p:nvPr/>
        </p:nvSpPr>
        <p:spPr>
          <a:xfrm>
            <a:off x="6949440" y="15087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v2.0</a:t>
            </a:r>
            <a:endParaRPr lang="en-US" sz="1200" dirty="0"/>
          </a:p>
        </p:txBody>
      </p:sp>
      <p:sp>
        <p:nvSpPr>
          <p:cNvPr id="121" name="Text 119"/>
          <p:cNvSpPr/>
          <p:nvPr/>
        </p:nvSpPr>
        <p:spPr>
          <a:xfrm>
            <a:off x="7909560" y="1463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Collaboration</a:t>
            </a:r>
            <a:endParaRPr lang="en-US" sz="1700" dirty="0"/>
          </a:p>
        </p:txBody>
      </p:sp>
      <p:sp>
        <p:nvSpPr>
          <p:cNvPr id="122" name="Text 120"/>
          <p:cNvSpPr/>
          <p:nvPr/>
        </p:nvSpPr>
        <p:spPr>
          <a:xfrm>
            <a:off x="699516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task lists and assign tasks to teammates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6309360" y="315468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409944" y="3383280"/>
            <a:ext cx="27432" cy="13258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766560" y="2926080"/>
            <a:ext cx="4572000" cy="1280160"/>
          </a:xfrm>
          <a:prstGeom prst="roundRect">
            <a:avLst>
              <a:gd name="adj" fmla="val 857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949440" y="30632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127" name="Text 125"/>
          <p:cNvSpPr/>
          <p:nvPr/>
        </p:nvSpPr>
        <p:spPr>
          <a:xfrm>
            <a:off x="6949440" y="306324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v2.1</a:t>
            </a:r>
            <a:endParaRPr lang="en-US" sz="1200" dirty="0"/>
          </a:p>
        </p:txBody>
      </p:sp>
      <p:sp>
        <p:nvSpPr>
          <p:cNvPr id="128" name="Text 126"/>
          <p:cNvSpPr/>
          <p:nvPr/>
        </p:nvSpPr>
        <p:spPr>
          <a:xfrm>
            <a:off x="7909560" y="3017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 (PWA)</a:t>
            </a:r>
            <a:endParaRPr lang="en-US" sz="1700" dirty="0"/>
          </a:p>
        </p:txBody>
      </p:sp>
      <p:sp>
        <p:nvSpPr>
          <p:cNvPr id="129" name="Text 127"/>
          <p:cNvSpPr/>
          <p:nvPr/>
        </p:nvSpPr>
        <p:spPr>
          <a:xfrm>
            <a:off x="699516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Installable app with push notifications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6309360" y="470916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766560" y="4480560"/>
            <a:ext cx="4572000" cy="1280160"/>
          </a:xfrm>
          <a:prstGeom prst="roundRect">
            <a:avLst>
              <a:gd name="adj" fmla="val 8571"/>
            </a:avLst>
          </a:prstGeom>
          <a:solidFill>
            <a:srgbClr val="141414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949440" y="461772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</p:sp>
      <p:sp>
        <p:nvSpPr>
          <p:cNvPr id="133" name="Text 131"/>
          <p:cNvSpPr/>
          <p:nvPr/>
        </p:nvSpPr>
        <p:spPr>
          <a:xfrm>
            <a:off x="6949440" y="46177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v2.2</a:t>
            </a:r>
            <a:endParaRPr lang="en-US" sz="1200" dirty="0"/>
          </a:p>
        </p:txBody>
      </p:sp>
      <p:sp>
        <p:nvSpPr>
          <p:cNvPr id="134" name="Text 132"/>
          <p:cNvSpPr/>
          <p:nvPr/>
        </p:nvSpPr>
        <p:spPr>
          <a:xfrm>
            <a:off x="7909560" y="4572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Smart Suggestions</a:t>
            </a:r>
            <a:endParaRPr lang="en-US" sz="1700" dirty="0"/>
          </a:p>
        </p:txBody>
      </p:sp>
      <p:sp>
        <p:nvSpPr>
          <p:cNvPr id="135" name="Text 133"/>
          <p:cNvSpPr/>
          <p:nvPr/>
        </p:nvSpPr>
        <p:spPr>
          <a:xfrm>
            <a:off x="6995160" y="5120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task recommendations and insights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Tasks?</a:t>
            </a:r>
            <a:endParaRPr lang="en-US" sz="3600" dirty="0"/>
          </a:p>
        </p:txBody>
      </p:sp>
      <p:sp>
        <p:nvSpPr>
          <p:cNvPr id="95" name="Shape 93"/>
          <p:cNvSpPr/>
          <p:nvPr/>
        </p:nvSpPr>
        <p:spPr>
          <a:xfrm>
            <a:off x="731520" y="1051560"/>
            <a:ext cx="2286000" cy="54864"/>
          </a:xfrm>
          <a:prstGeom prst="rect">
            <a:avLst/>
          </a:prstGeom>
          <a:solidFill>
            <a:srgbClr val="A855F6"/>
          </a:solidFill>
          <a:ln/>
        </p:spPr>
      </p:sp>
      <p:sp>
        <p:nvSpPr>
          <p:cNvPr id="96" name="Shape 94"/>
          <p:cNvSpPr/>
          <p:nvPr/>
        </p:nvSpPr>
        <p:spPr>
          <a:xfrm>
            <a:off x="731520" y="137160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31520" y="1371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Traditional Approach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6400800" y="137160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1C1C1C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400800" y="1371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Tasks App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731520" y="2194560"/>
            <a:ext cx="502920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1" name="Text 99"/>
          <p:cNvSpPr/>
          <p:nvPr/>
        </p:nvSpPr>
        <p:spPr>
          <a:xfrm>
            <a:off x="914400" y="21945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notes &amp; lists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6400800" y="2194560"/>
            <a:ext cx="502920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3" name="Text 101"/>
          <p:cNvSpPr/>
          <p:nvPr/>
        </p:nvSpPr>
        <p:spPr>
          <a:xfrm>
            <a:off x="6583680" y="21945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CC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organized place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731520" y="2926080"/>
            <a:ext cx="5029200" cy="640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5" name="Text 103"/>
          <p:cNvSpPr/>
          <p:nvPr/>
        </p:nvSpPr>
        <p:spPr>
          <a:xfrm>
            <a:off x="914400" y="29260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reminders</a:t>
            </a:r>
            <a:endParaRPr lang="en-US" sz="1400" dirty="0"/>
          </a:p>
        </p:txBody>
      </p:sp>
      <p:sp>
        <p:nvSpPr>
          <p:cNvPr id="106" name="Shape 104"/>
          <p:cNvSpPr/>
          <p:nvPr/>
        </p:nvSpPr>
        <p:spPr>
          <a:xfrm>
            <a:off x="6400800" y="2926080"/>
            <a:ext cx="5029200" cy="640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7" name="Text 105"/>
          <p:cNvSpPr/>
          <p:nvPr/>
        </p:nvSpPr>
        <p:spPr>
          <a:xfrm>
            <a:off x="6583680" y="29260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CC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email reminders</a:t>
            </a:r>
            <a:endParaRPr lang="en-US" sz="1400" dirty="0"/>
          </a:p>
        </p:txBody>
      </p:sp>
      <p:sp>
        <p:nvSpPr>
          <p:cNvPr id="108" name="Shape 106"/>
          <p:cNvSpPr/>
          <p:nvPr/>
        </p:nvSpPr>
        <p:spPr>
          <a:xfrm>
            <a:off x="731520" y="3657600"/>
            <a:ext cx="502920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9" name="Text 107"/>
          <p:cNvSpPr/>
          <p:nvPr/>
        </p:nvSpPr>
        <p:spPr>
          <a:xfrm>
            <a:off x="914400" y="36576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security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6400800" y="3657600"/>
            <a:ext cx="502920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1" name="Text 109"/>
          <p:cNvSpPr/>
          <p:nvPr/>
        </p:nvSpPr>
        <p:spPr>
          <a:xfrm>
            <a:off x="6583680" y="36576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CC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authentication</a:t>
            </a:r>
            <a:endParaRPr lang="en-US" sz="1400" dirty="0"/>
          </a:p>
        </p:txBody>
      </p:sp>
      <p:sp>
        <p:nvSpPr>
          <p:cNvPr id="112" name="Shape 110"/>
          <p:cNvSpPr/>
          <p:nvPr/>
        </p:nvSpPr>
        <p:spPr>
          <a:xfrm>
            <a:off x="731520" y="4389120"/>
            <a:ext cx="5029200" cy="640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3" name="Text 111"/>
          <p:cNvSpPr/>
          <p:nvPr/>
        </p:nvSpPr>
        <p:spPr>
          <a:xfrm>
            <a:off x="914400" y="43891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cloud sync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6400800" y="4389120"/>
            <a:ext cx="5029200" cy="640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5" name="Text 113"/>
          <p:cNvSpPr/>
          <p:nvPr/>
        </p:nvSpPr>
        <p:spPr>
          <a:xfrm>
            <a:off x="6583680" y="43891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CC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from anywhere, any device</a:t>
            </a:r>
            <a:endParaRPr lang="en-US" sz="1400" dirty="0"/>
          </a:p>
        </p:txBody>
      </p:sp>
      <p:sp>
        <p:nvSpPr>
          <p:cNvPr id="116" name="Shape 114"/>
          <p:cNvSpPr/>
          <p:nvPr/>
        </p:nvSpPr>
        <p:spPr>
          <a:xfrm>
            <a:off x="731520" y="5120640"/>
            <a:ext cx="502920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7" name="Text 115"/>
          <p:cNvSpPr/>
          <p:nvPr/>
        </p:nvSpPr>
        <p:spPr>
          <a:xfrm>
            <a:off x="914400" y="5120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Ugly / outdated UI</a:t>
            </a:r>
            <a:endParaRPr lang="en-US" sz="1400" dirty="0"/>
          </a:p>
        </p:txBody>
      </p:sp>
      <p:sp>
        <p:nvSpPr>
          <p:cNvPr id="118" name="Shape 116"/>
          <p:cNvSpPr/>
          <p:nvPr/>
        </p:nvSpPr>
        <p:spPr>
          <a:xfrm>
            <a:off x="6400800" y="5120640"/>
            <a:ext cx="5029200" cy="6400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9" name="Text 117"/>
          <p:cNvSpPr/>
          <p:nvPr/>
        </p:nvSpPr>
        <p:spPr>
          <a:xfrm>
            <a:off x="6583680" y="51206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CC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Modern, beautiful dark-themed UI</a:t>
            </a:r>
            <a:endParaRPr lang="en-US" sz="1400" dirty="0"/>
          </a:p>
        </p:txBody>
      </p:sp>
      <p:sp>
        <p:nvSpPr>
          <p:cNvPr id="120" name="Shape 118"/>
          <p:cNvSpPr/>
          <p:nvPr/>
        </p:nvSpPr>
        <p:spPr>
          <a:xfrm>
            <a:off x="731520" y="5852160"/>
            <a:ext cx="5029200" cy="640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1" name="Text 119"/>
          <p:cNvSpPr/>
          <p:nvPr/>
        </p:nvSpPr>
        <p:spPr>
          <a:xfrm>
            <a:off x="914400" y="58521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deployment</a:t>
            </a:r>
            <a:endParaRPr lang="en-US" sz="1400" dirty="0"/>
          </a:p>
        </p:txBody>
      </p:sp>
      <p:sp>
        <p:nvSpPr>
          <p:cNvPr id="122" name="Shape 120"/>
          <p:cNvSpPr/>
          <p:nvPr/>
        </p:nvSpPr>
        <p:spPr>
          <a:xfrm>
            <a:off x="6400800" y="5852160"/>
            <a:ext cx="5029200" cy="640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3" name="Text 121"/>
          <p:cNvSpPr/>
          <p:nvPr/>
        </p:nvSpPr>
        <p:spPr>
          <a:xfrm>
            <a:off x="6583680" y="58521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CC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Auto-deploy on every Git push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Get Started</a:t>
            </a:r>
            <a:endParaRPr lang="en-US" sz="3600" dirty="0"/>
          </a:p>
        </p:txBody>
      </p:sp>
      <p:sp>
        <p:nvSpPr>
          <p:cNvPr id="95" name="Shape 93"/>
          <p:cNvSpPr/>
          <p:nvPr/>
        </p:nvSpPr>
        <p:spPr>
          <a:xfrm>
            <a:off x="731520" y="1051560"/>
            <a:ext cx="2926080" cy="54864"/>
          </a:xfrm>
          <a:prstGeom prst="rect">
            <a:avLst/>
          </a:prstGeom>
          <a:solidFill>
            <a:srgbClr val="A855F6"/>
          </a:solidFill>
          <a:ln/>
        </p:spPr>
      </p:sp>
      <p:sp>
        <p:nvSpPr>
          <p:cNvPr id="96" name="Shape 94"/>
          <p:cNvSpPr/>
          <p:nvPr/>
        </p:nvSpPr>
        <p:spPr>
          <a:xfrm>
            <a:off x="2286000" y="1463040"/>
            <a:ext cx="7589520" cy="731520"/>
          </a:xfrm>
          <a:prstGeom prst="roundRect">
            <a:avLst>
              <a:gd name="adj" fmla="val 12500"/>
            </a:avLst>
          </a:prstGeom>
          <a:solidFill>
            <a:srgbClr val="141414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560320" y="146304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DD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App is live and deployed on Vercel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2286000" y="2377440"/>
            <a:ext cx="7589520" cy="731520"/>
          </a:xfrm>
          <a:prstGeom prst="roundRect">
            <a:avLst>
              <a:gd name="adj" fmla="val 12500"/>
            </a:avLst>
          </a:prstGeom>
          <a:solidFill>
            <a:srgbClr val="141414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560320" y="237744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DD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Database is provisioned and production-ready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2286000" y="3291840"/>
            <a:ext cx="7589520" cy="731520"/>
          </a:xfrm>
          <a:prstGeom prst="roundRect">
            <a:avLst>
              <a:gd name="adj" fmla="val 12500"/>
            </a:avLst>
          </a:prstGeom>
          <a:solidFill>
            <a:srgbClr val="141414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560320" y="329184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DD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Authentication is configured with Clerk</a:t>
            </a:r>
            <a:endParaRPr lang="en-US" sz="1800" dirty="0"/>
          </a:p>
        </p:txBody>
      </p:sp>
      <p:sp>
        <p:nvSpPr>
          <p:cNvPr id="102" name="Shape 100"/>
          <p:cNvSpPr/>
          <p:nvPr/>
        </p:nvSpPr>
        <p:spPr>
          <a:xfrm>
            <a:off x="2286000" y="4206240"/>
            <a:ext cx="7589520" cy="731520"/>
          </a:xfrm>
          <a:prstGeom prst="roundRect">
            <a:avLst>
              <a:gd name="adj" fmla="val 12500"/>
            </a:avLst>
          </a:prstGeom>
          <a:solidFill>
            <a:srgbClr val="141414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560320" y="420624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DD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Email reminders are active via Resend</a:t>
            </a:r>
            <a:endParaRPr lang="en-US" sz="1800" dirty="0"/>
          </a:p>
        </p:txBody>
      </p:sp>
      <p:sp>
        <p:nvSpPr>
          <p:cNvPr id="104" name="Shape 102"/>
          <p:cNvSpPr/>
          <p:nvPr/>
        </p:nvSpPr>
        <p:spPr>
          <a:xfrm>
            <a:off x="3200400" y="5303520"/>
            <a:ext cx="5760720" cy="914400"/>
          </a:xfrm>
          <a:prstGeom prst="roundRect">
            <a:avLst>
              <a:gd name="adj" fmla="val 15000"/>
            </a:avLst>
          </a:prstGeom>
          <a:solidFill>
            <a:srgbClr val="A855F6"/>
          </a:solidFill>
          <a:ln/>
          <a:effectLst>
            <a:outerShdw sx="100000" sy="100000" kx="0" ky="0" algn="bl" rotWithShape="0" blurRad="254000" dist="50800" dir="16200000">
              <a:srgbClr val="A855F6">
                <a:alpha val="40000"/>
              </a:srgbClr>
            </a:outerShdw>
          </a:effectLst>
        </p:spPr>
      </p:sp>
      <p:sp>
        <p:nvSpPr>
          <p:cNvPr id="105" name="Text 103"/>
          <p:cNvSpPr/>
          <p:nvPr/>
        </p:nvSpPr>
        <p:spPr>
          <a:xfrm>
            <a:off x="3200400" y="53035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see it in action? Let's open the app →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29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43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43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58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58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724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24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7724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724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7724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724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6868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868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6868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868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6868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868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868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012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6012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012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012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12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6012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012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5156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156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5156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5156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5156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156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430000" y="274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430000" y="1188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30000" y="21031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430000" y="30175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430000" y="39319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430000" y="48463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430000" y="5760720"/>
            <a:ext cx="27432" cy="27432"/>
          </a:xfrm>
          <a:prstGeom prst="ellipse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A855F6"/>
          </a:solidFill>
          <a:ln/>
          <a:effectLst>
            <a:outerShdw sx="100000" sy="100000" kx="0" ky="0" algn="bl" rotWithShape="0" blurRad="152400" dist="50800" dir="16200000">
              <a:srgbClr val="A855F6">
                <a:alpha val="4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A855F6"/>
          </a:solidFill>
          <a:ln/>
        </p:spPr>
      </p:sp>
      <p:sp>
        <p:nvSpPr>
          <p:cNvPr id="95" name="Shape 93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96" name="Text 9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97" name="Text 95"/>
          <p:cNvSpPr/>
          <p:nvPr/>
        </p:nvSpPr>
        <p:spPr>
          <a:xfrm>
            <a:off x="914400" y="3017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855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98" name="Shape 96"/>
          <p:cNvSpPr/>
          <p:nvPr/>
        </p:nvSpPr>
        <p:spPr>
          <a:xfrm>
            <a:off x="5029200" y="3840480"/>
            <a:ext cx="2103120" cy="36576"/>
          </a:xfrm>
          <a:prstGeom prst="rect">
            <a:avLst/>
          </a:prstGeom>
          <a:solidFill>
            <a:srgbClr val="A855F6"/>
          </a:solidFill>
          <a:ln/>
        </p:spPr>
      </p:sp>
      <p:sp>
        <p:nvSpPr>
          <p:cNvPr id="99" name="Text 97"/>
          <p:cNvSpPr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Tasks — Stay Organized, Get Things Done.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Tasks — Stay Organized, Get Things Done</dc:title>
  <dc:subject>Client Presentation</dc:subject>
  <dc:creator>Tasks App</dc:creator>
  <cp:lastModifiedBy>Tasks App</cp:lastModifiedBy>
  <cp:revision>1</cp:revision>
  <dcterms:created xsi:type="dcterms:W3CDTF">2026-02-22T01:01:55Z</dcterms:created>
  <dcterms:modified xsi:type="dcterms:W3CDTF">2026-02-22T01:01:55Z</dcterms:modified>
</cp:coreProperties>
</file>